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63027-7A84-40FC-920D-002B1DCF7209}" v="7" dt="2026-09-13T19:58:14.196"/>
    <p1510:client id="{D086FDA2-9900-443D-A194-1E604C186164}" v="184" dt="2026-09-12T18:59:40.1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PROJECT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143000"/>
            <a:ext cx="73152" cy="4480560"/>
          </a:xfrm>
          <a:prstGeom prst="rect">
            <a:avLst/>
          </a:prstGeom>
          <a:solidFill>
            <a:srgbClr val="257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207008"/>
            <a:ext cx="5486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5706F"/>
                </a:solidFill>
                <a:latin typeface="Aptos"/>
              </a:rPr>
              <a:t>OPERATING 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600200"/>
            <a:ext cx="7132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22282E"/>
                </a:solidFill>
                <a:latin typeface="Aptos Display"/>
              </a:rPr>
              <a:t>Efficiency
Investigation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246120"/>
            <a:ext cx="76809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56C72"/>
                </a:solidFill>
                <a:latin typeface="Aptos"/>
              </a:rPr>
              <a:t>Surgical delays • OR workload • scheduling performance • resource utilization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886200"/>
            <a:ext cx="7040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>
                <a:solidFill>
                  <a:srgbClr val="22282E"/>
                </a:solidFill>
                <a:latin typeface="Aptos"/>
              </a:rPr>
              <a:t>A SQL + Power BI case study using surgical encounter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143000"/>
            <a:ext cx="2788920" cy="4553712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87968" y="1517904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PROJECT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87968" y="1993392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282E"/>
                </a:solidFill>
                <a:latin typeface="Aptos Display"/>
              </a:rPr>
              <a:t>2,172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237744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6C72"/>
                </a:solidFill>
                <a:latin typeface="Aptos"/>
              </a:rPr>
              <a:t>surgical encounters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7968" y="2798064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282E"/>
                </a:solidFill>
                <a:latin typeface="Aptos Display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7968" y="3182112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6C72"/>
                </a:solidFill>
                <a:latin typeface="Aptos"/>
              </a:rPr>
              <a:t>OR suites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87968" y="3602736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282E"/>
                </a:solidFill>
                <a:latin typeface="Aptos Display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3986784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6C72"/>
                </a:solidFill>
                <a:latin typeface="Aptos"/>
              </a:rPr>
              <a:t>surgical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4407408"/>
            <a:ext cx="2240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282E"/>
                </a:solidFill>
                <a:latin typeface="Aptos Display"/>
              </a:rPr>
              <a:t>Jan 3 – Mar 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479145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56C72"/>
                </a:solidFill>
                <a:latin typeface="Aptos"/>
              </a:rPr>
              <a:t>2022 analysis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5852160"/>
            <a:ext cx="6949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2282E"/>
                </a:solidFill>
                <a:latin typeface="Aptos"/>
              </a:rPr>
              <a:t>PostgreSQL 18  |  SQL  |  Power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8" y="5852160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656C72"/>
                </a:solidFill>
                <a:latin typeface="Aptos"/>
              </a:rPr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What was this project about?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A practical look at how surgical workload and scheduling varied across the 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161" y="1571997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25706F"/>
                </a:solidFill>
                <a:latin typeface="Aptos Display"/>
              </a:rPr>
              <a:t>The starting point was simple: surgery count tells only part of the story.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95728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2282E"/>
                </a:solidFill>
                <a:latin typeface="Aptos"/>
              </a:defRPr>
            </a:pPr>
            <a:r>
              <a:t>• Some ORs handled more cases, while others spent more total time occupied.</a:t>
            </a:r>
          </a:p>
          <a:p>
            <a:pPr>
              <a:spcAft>
                <a:spcPts val="1400"/>
              </a:spcAft>
              <a:defRPr sz="1700">
                <a:solidFill>
                  <a:srgbClr val="22282E"/>
                </a:solidFill>
                <a:latin typeface="Aptos"/>
              </a:defRPr>
            </a:pPr>
            <a:r>
              <a:t>• Scheduling delay was also different from one OR to another.</a:t>
            </a:r>
          </a:p>
          <a:p>
            <a:pPr>
              <a:spcAft>
                <a:spcPts val="1400"/>
              </a:spcAft>
              <a:defRPr sz="1700">
                <a:solidFill>
                  <a:srgbClr val="22282E"/>
                </a:solidFill>
                <a:latin typeface="Aptos"/>
              </a:defRPr>
            </a:pPr>
            <a:r>
              <a:t>• Procedure mix and duration added another layer to the workload picture.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13522" y="2030482"/>
            <a:ext cx="374903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WHAT THE ANALYSIS AIMED TO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3448" y="2331720"/>
            <a:ext cx="4251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82E"/>
                </a:solidFill>
                <a:latin typeface="Aptos"/>
              </a:defRPr>
            </a:pPr>
            <a:r>
              <a:t>• Where is surgical volume concentrated?</a:t>
            </a:r>
          </a:p>
          <a:p>
            <a:pPr>
              <a:spcAft>
                <a:spcPts val="1200"/>
              </a:spcAft>
              <a:defRPr sz="1600">
                <a:solidFill>
                  <a:srgbClr val="22282E"/>
                </a:solidFill>
                <a:latin typeface="Aptos"/>
              </a:defRPr>
            </a:pPr>
            <a:r>
              <a:t>• Which ORs account for the most occupied time?</a:t>
            </a:r>
          </a:p>
          <a:p>
            <a:pPr>
              <a:spcAft>
                <a:spcPts val="1200"/>
              </a:spcAft>
              <a:defRPr sz="1600">
                <a:solidFill>
                  <a:srgbClr val="22282E"/>
                </a:solidFill>
                <a:latin typeface="Aptos"/>
              </a:defRPr>
            </a:pPr>
            <a:r>
              <a:t>• Where is scheduling delay highest?</a:t>
            </a:r>
          </a:p>
          <a:p>
            <a:pPr>
              <a:spcAft>
                <a:spcPts val="1200"/>
              </a:spcAft>
              <a:defRPr sz="1600">
                <a:solidFill>
                  <a:srgbClr val="22282E"/>
                </a:solidFill>
                <a:latin typeface="Aptos"/>
              </a:defRPr>
            </a:pPr>
            <a:r>
              <a:t>• How closely does booked time match actual OR occupancy?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983480"/>
            <a:ext cx="105613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1846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706F"/>
                </a:solidFill>
                <a:latin typeface="Aptos"/>
              </a:rPr>
              <a:t>Volume • Occupancy •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184648"/>
            <a:ext cx="7269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2282E"/>
                </a:solidFill>
                <a:latin typeface="Aptos"/>
              </a:rPr>
              <a:t>Three separate measures give a clearer picture than a single “efficiency”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Business problem → analysis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questions were translated into measurable SQL analyses.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783080"/>
            <a:ext cx="3246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5706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4871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82E"/>
                </a:solidFill>
                <a:latin typeface="Aptos Display"/>
              </a:rPr>
              <a:t>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090672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How many surgeries were performed, and where were they concentrated?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783080"/>
            <a:ext cx="3246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72584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5B7B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2584" y="24871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82E"/>
                </a:solidFill>
                <a:latin typeface="Aptos Display"/>
              </a:rPr>
              <a:t>Workload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090672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How much OR time was actually occupied, and which services used the most time?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783080"/>
            <a:ext cx="32461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03336" y="19933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B7743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3336" y="2487168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22282E"/>
                </a:solidFill>
                <a:latin typeface="Aptos Display"/>
              </a:rPr>
              <a:t>Scheduling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3090672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Where were delays highest, and how did booked time compare with actual occupancy?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Main objective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5010912"/>
            <a:ext cx="8732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82E"/>
                </a:solidFill>
                <a:latin typeface="Aptos"/>
              </a:rPr>
              <a:t>Build an evidence-based view of OR operations that can support scheduling and workload review.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Dataset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One row represents one surgical encounter.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2,172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3042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706F"/>
                </a:solidFill>
                <a:latin typeface="Aptos"/>
              </a:rPr>
              <a:t>encounters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173736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23042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5B7B"/>
                </a:solidFill>
                <a:latin typeface="Aptos"/>
              </a:rPr>
              <a:t>original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73736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3042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43D"/>
                </a:solidFill>
                <a:latin typeface="Aptos"/>
              </a:rPr>
              <a:t>OR suites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1737360"/>
            <a:ext cx="20116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30428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5706F"/>
                </a:solidFill>
                <a:latin typeface="Aptos"/>
              </a:rPr>
              <a:t>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926080"/>
            <a:ext cx="1056132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KEY SOURCE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5760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Encounter ID, surgery date, OR suite and service</a:t>
            </a:r>
          </a:p>
          <a:p>
            <a:pPr>
              <a:spcAft>
                <a:spcPts val="9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CPT code and procedure description</a:t>
            </a:r>
          </a:p>
          <a:p>
            <a:pPr>
              <a:spcAft>
                <a:spcPts val="9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Booked time and OR scheduled time</a:t>
            </a:r>
          </a:p>
          <a:p>
            <a:pPr>
              <a:spcAft>
                <a:spcPts val="9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Wheels-in, start, end and wheels-out timestamps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246120"/>
            <a:ext cx="3474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DERIVED FIELDS USED IN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57600"/>
            <a:ext cx="489204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Procedure Duration = End Time − Start Time</a:t>
            </a:r>
          </a:p>
          <a:p>
            <a:pPr>
              <a:spcAft>
                <a:spcPts val="10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OR Occupancy = Wheels Out − Wheels In</a:t>
            </a:r>
          </a:p>
          <a:p>
            <a:pPr>
              <a:spcAft>
                <a:spcPts val="1000"/>
              </a:spcAft>
              <a:defRPr sz="1500">
                <a:solidFill>
                  <a:srgbClr val="22282E"/>
                </a:solidFill>
                <a:latin typeface="Aptos"/>
              </a:defRPr>
            </a:pPr>
            <a:r>
              <a:t>• Scheduling Delay = Start Time − OR Schedule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56C72"/>
                </a:solidFill>
                <a:latin typeface="Aptos"/>
              </a:rPr>
              <a:t>Analysis period: January 3, 2022 – March 31,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Before analysis: validate the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checks were done in PostgreSQL before moving into business questions.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7556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842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0472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82E"/>
                </a:solidFill>
                <a:latin typeface="Aptos Display"/>
              </a:rPr>
              <a:t>Completeness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472" y="2350008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6C72"/>
                </a:solidFill>
                <a:latin typeface="Aptos"/>
              </a:rPr>
              <a:t>Missing-value checks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98424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6872" y="1920240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82E"/>
                </a:solidFill>
                <a:latin typeface="Aptos Display"/>
              </a:rPr>
              <a:t>Uniqueness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2350008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6C72"/>
                </a:solidFill>
                <a:latin typeface="Aptos"/>
              </a:rPr>
              <a:t>Duplicate encounter IDs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328415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55701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49300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82E"/>
                </a:solidFill>
                <a:latin typeface="Aptos Display"/>
              </a:rPr>
              <a:t>Business 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3922776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6C72"/>
                </a:solidFill>
                <a:latin typeface="Aptos"/>
              </a:rPr>
              <a:t>Booked time &gt; 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328415"/>
            <a:ext cx="5074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557015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3493008"/>
            <a:ext cx="1645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22282E"/>
                </a:solidFill>
                <a:latin typeface="Aptos Display"/>
              </a:rPr>
              <a:t>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3922776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56C72"/>
                </a:solidFill>
                <a:latin typeface="Aptos"/>
              </a:rPr>
              <a:t>Schedule → wheels in → start → end → wheels out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074920"/>
            <a:ext cx="10561320" cy="713232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276088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2282E"/>
                </a:solidFill>
                <a:latin typeface="Aptos"/>
              </a:rPr>
              <a:t>Result: the dataset passed the structural, completeness, uniqueness and timeline checks. No major cleaning or imputation was required.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SQL analysis: OR performance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258" y="1124161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One result brings the three core measures together: volume, occupancy and average delay.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508136"/>
            <a:ext cx="7360920" cy="463644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SQL QUERY</a:t>
            </a:r>
          </a:p>
        </p:txBody>
      </p:sp>
      <p:pic>
        <p:nvPicPr>
          <p:cNvPr id="10" name="Picture 9" descr="0a2108ff-4206-4de7-b977-0134366532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964" y="1579525"/>
            <a:ext cx="4897731" cy="18490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675887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QUERY RESULT</a:t>
            </a:r>
          </a:p>
        </p:txBody>
      </p:sp>
      <p:pic>
        <p:nvPicPr>
          <p:cNvPr id="12" name="Picture 11" descr="621573d6-b365-44c9-b470-35e76f903d0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660" y="3564653"/>
            <a:ext cx="4562629" cy="2468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4192" y="178308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WHAT THIS TELLS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2282E"/>
                </a:solidFill>
                <a:latin typeface="Aptos Display"/>
              </a:rPr>
              <a:t>OR performance is not one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90672"/>
            <a:ext cx="29443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The query compares every OR on surgery count, total occupied hours and average scheduling delay.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4892040"/>
            <a:ext cx="2907792" cy="1051560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5102352"/>
            <a:ext cx="2468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539496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"/>
              </a:rPr>
              <a:t>Use all three measures when reviewing an 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SQL analysis: OR occupancy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161" y="111498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Total occupied time shows a different workload picture from case count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271" y="1425510"/>
            <a:ext cx="7315017" cy="476497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75B7B"/>
                </a:solidFill>
                <a:latin typeface="Aptos"/>
              </a:rPr>
              <a:t>SQL QUERY</a:t>
            </a:r>
          </a:p>
        </p:txBody>
      </p:sp>
      <p:pic>
        <p:nvPicPr>
          <p:cNvPr id="10" name="Picture 9" descr="e80c3906-5461-46b6-9866-8dace53fe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775" y="1588705"/>
            <a:ext cx="5988758" cy="168381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675887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75B7B"/>
                </a:solidFill>
                <a:latin typeface="Aptos"/>
              </a:rPr>
              <a:t>QUERY RESULT</a:t>
            </a:r>
          </a:p>
        </p:txBody>
      </p:sp>
      <p:pic>
        <p:nvPicPr>
          <p:cNvPr id="12" name="Picture 11" descr="0f494ae9-f0db-4573-9542-eb28de9a46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175" y="3426943"/>
            <a:ext cx="3009814" cy="26524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4192" y="178308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75B7B"/>
                </a:solidFill>
                <a:latin typeface="Aptos"/>
              </a:rPr>
              <a:t>WHAT THIS TELLS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2282E"/>
                </a:solidFill>
                <a:latin typeface="Aptos Display"/>
              </a:rPr>
              <a:t>OR 1 had the highest occupancy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90672"/>
            <a:ext cx="29443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OR 1 recorded 386.75 hours of occupancy. OR 8 had the fewest cases but still recorded 377.90 hours.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4892040"/>
            <a:ext cx="2907792" cy="1051560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5102352"/>
            <a:ext cx="2468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5B7B"/>
                </a:solidFill>
                <a:latin typeface="Aptos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539496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"/>
              </a:rPr>
              <a:t>Case volume does not equal workload.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SQL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SQL analysis: scheduling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161" y="1124161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Average schedule delay was calculated for each OR and sorted from highest to lowest.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271" y="1508136"/>
            <a:ext cx="7315017" cy="4682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1188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SQL QUERY</a:t>
            </a:r>
          </a:p>
        </p:txBody>
      </p:sp>
      <p:pic>
        <p:nvPicPr>
          <p:cNvPr id="10" name="Picture 9" descr="34036a16-e325-49f2-943a-2059a29436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372" y="1643790"/>
            <a:ext cx="5950844" cy="16654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96112" y="3675887"/>
            <a:ext cx="1417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QUERY RESULT</a:t>
            </a:r>
          </a:p>
        </p:txBody>
      </p:sp>
      <p:pic>
        <p:nvPicPr>
          <p:cNvPr id="12" name="Picture 11" descr="64f4e13a-c82b-4d47-9ac6-8b770598e2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429" y="3426943"/>
            <a:ext cx="3032007" cy="263413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4192" y="1783080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WHAT THIS TELLS 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22282E"/>
                </a:solidFill>
                <a:latin typeface="Aptos Display"/>
              </a:rPr>
              <a:t>OR 2 had the highest delay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90672"/>
            <a:ext cx="2944368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2282E"/>
                </a:solidFill>
                <a:latin typeface="Aptos"/>
              </a:rPr>
              <a:t>OR 2 recorded an average scheduling delay of 94.48 minutes, while OR 3 recorded the lowest at 21.85 minutes.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4892040"/>
            <a:ext cx="2907792" cy="1051560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13648" y="5102352"/>
            <a:ext cx="246888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7743D"/>
                </a:solidFill>
                <a:latin typeface="Aptos"/>
              </a:rPr>
              <a:t>Key 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3648" y="5394960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"/>
              </a:rPr>
              <a:t>Scheduling delay varies by 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What stood out from the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0" dirty="0">
                <a:solidFill>
                  <a:srgbClr val="656C72"/>
                </a:solidFill>
                <a:latin typeface="Aptos"/>
              </a:rPr>
              <a:t>The strongest findings came from comparing the </a:t>
            </a:r>
            <a:r>
              <a:rPr sz="1600" b="0" dirty="0">
                <a:solidFill>
                  <a:srgbClr val="656C72"/>
                </a:solidFill>
                <a:latin typeface="Aptos"/>
              </a:rPr>
              <a:t>measures</a:t>
            </a:r>
            <a:r>
              <a:rPr sz="1400" b="0" dirty="0">
                <a:solidFill>
                  <a:srgbClr val="656C72"/>
                </a:solidFill>
                <a:latin typeface="Aptos"/>
              </a:rPr>
              <a:t> together.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1691640"/>
            <a:ext cx="5074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920240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82E"/>
                </a:solidFill>
                <a:latin typeface="Aptos Display"/>
              </a:rPr>
              <a:t>439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1920240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706F"/>
                </a:solidFill>
                <a:latin typeface="Aptos"/>
              </a:rPr>
              <a:t>OR 3 surgeries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313432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Highest surgery 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691640"/>
            <a:ext cx="5074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920240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82E"/>
                </a:solidFill>
                <a:latin typeface="Aptos Display"/>
              </a:rPr>
              <a:t>386.75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1920240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5B7B"/>
                </a:solidFill>
                <a:latin typeface="Aptos"/>
              </a:rPr>
              <a:t>OR 1 occupancy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1352" y="2313432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Highest total OR occupancy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3520440"/>
            <a:ext cx="5074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74903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82E"/>
                </a:solidFill>
                <a:latin typeface="Aptos Display"/>
              </a:rPr>
              <a:t>94.48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3749039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B7743D"/>
                </a:solidFill>
                <a:latin typeface="Aptos"/>
              </a:rPr>
              <a:t>OR 2 delay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44952" y="4142232"/>
            <a:ext cx="2377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Highest average scheduling delay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520440"/>
            <a:ext cx="50749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749039"/>
            <a:ext cx="2057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22282E"/>
                </a:solidFill>
                <a:latin typeface="Aptos Display"/>
              </a:rPr>
              <a:t>540.13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1352" y="3749039"/>
            <a:ext cx="2377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5706F"/>
                </a:solidFill>
                <a:latin typeface="Aptos"/>
              </a:rPr>
              <a:t>Orthopedics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4142232"/>
            <a:ext cx="237744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Highest service-level occupancy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690" y="5202092"/>
            <a:ext cx="10598042" cy="778084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496" y="5330034"/>
            <a:ext cx="10149840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22282E"/>
                </a:solidFill>
                <a:latin typeface="Aptos"/>
              </a:rPr>
              <a:t>Other useful findings: Ophthalmology had 334 surgeries; Tuesday had 456 surgeries; average booked vs actual OR time variance was +2.51 minutes.</a:t>
            </a:r>
            <a:endParaRPr lang="en-US" sz="1400" b="1">
              <a:solidFill>
                <a:srgbClr val="22282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Power BI dashboard — executive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first page gives a quick read on overall surgical activity.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809244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70848" y="182880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PAGE 1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2267712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2.17K total surgeries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79.70 min average OR occupancy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57.07 min average scheduling delay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+2.51 min booked-vs-actual variance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45.48 min average procedure duration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5413248"/>
            <a:ext cx="2487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25706F"/>
                </a:solidFill>
                <a:latin typeface="Aptos"/>
              </a:rPr>
              <a:t>The page answers: “What is happening overall?”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9DB6A2-8758-793F-9EAC-0CE07CC1C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005" y="1628728"/>
            <a:ext cx="8124037" cy="45737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Power BI dashboard — OR &amp; specialty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second page moves from the overall picture into workload and scheduling comparisons.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809244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70848" y="182880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75B7B"/>
                </a:solidFill>
                <a:latin typeface="Aptos"/>
              </a:rPr>
              <a:t>PAGE 2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2267712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OR-wise surgery volume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Total OR occupancy by suite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Scheduling delay by OR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Specialty volume and occupancy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Average procedure duration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Booked vs actual OR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5413248"/>
            <a:ext cx="2487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375B7B"/>
                </a:solidFill>
                <a:latin typeface="Aptos"/>
              </a:rPr>
              <a:t>This page makes differences between ORs and services easier to compare.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FC44E9-B574-668B-44E6-C9AB933C7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878" y="1624988"/>
            <a:ext cx="8107373" cy="458118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Power BI dashboard — key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final page turns the analysis into a short list of findings and management considerations.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27632"/>
            <a:ext cx="809244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50" y="1654733"/>
            <a:ext cx="8134179" cy="454878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70848" y="1828800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PAGE 3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70848" y="2267712"/>
            <a:ext cx="2514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Volume is not the same as workload.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Scheduling delay varies across ORs.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Orthopedics has high workload and delay.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Booked and actual OR time are close on average.</a:t>
            </a:r>
          </a:p>
          <a:p>
            <a:pPr>
              <a:spcAft>
                <a:spcPts val="900"/>
              </a:spcAft>
              <a:defRPr sz="1400">
                <a:solidFill>
                  <a:srgbClr val="22282E"/>
                </a:solidFill>
                <a:latin typeface="Aptos"/>
              </a:defRPr>
            </a:pPr>
            <a:r>
              <a:t>• Capacity hours are unavailable, so utilization % is not calculated.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0848" y="5413248"/>
            <a:ext cx="2487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B7743D"/>
                </a:solidFill>
                <a:latin typeface="Aptos"/>
              </a:rPr>
              <a:t>The dashboard links the analysis to practical review areas.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BUSINESS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What a manager can take from this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These are review areas supported by the data — not claims about root causes.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5706F"/>
                </a:solidFill>
                <a:latin typeface="Aptos"/>
              </a:rPr>
              <a:t>REVIEW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617" y="2148730"/>
            <a:ext cx="5650735" cy="24083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400"/>
              </a:spcAft>
              <a:defRPr sz="1650">
                <a:solidFill>
                  <a:srgbClr val="22282E"/>
                </a:solidFill>
                <a:latin typeface="Aptos"/>
              </a:defRPr>
            </a:pPr>
            <a:r>
              <a:rPr dirty="0"/>
              <a:t>• Review ORs with higher scheduling delays, particularly OR</a:t>
            </a:r>
            <a:r>
              <a:rPr lang="en-US" dirty="0"/>
              <a:t> </a:t>
            </a:r>
            <a:r>
              <a:rPr dirty="0"/>
              <a:t>2.</a:t>
            </a:r>
          </a:p>
          <a:p>
            <a:pPr>
              <a:spcAft>
                <a:spcPts val="1400"/>
              </a:spcAft>
              <a:defRPr sz="1650">
                <a:solidFill>
                  <a:srgbClr val="22282E"/>
                </a:solidFill>
                <a:latin typeface="Aptos"/>
              </a:defRPr>
            </a:pPr>
            <a:r>
              <a:rPr dirty="0"/>
              <a:t>• Look at occupancy as well as case volume when assessing workload.</a:t>
            </a:r>
          </a:p>
          <a:p>
            <a:pPr>
              <a:spcAft>
                <a:spcPts val="1400"/>
              </a:spcAft>
              <a:defRPr sz="1650">
                <a:solidFill>
                  <a:srgbClr val="22282E"/>
                </a:solidFill>
                <a:latin typeface="Aptos"/>
              </a:defRPr>
            </a:pPr>
            <a:r>
              <a:rPr dirty="0"/>
              <a:t>• Review Orthopedics workload and scheduling patterns.</a:t>
            </a:r>
          </a:p>
          <a:p>
            <a:pPr>
              <a:spcAft>
                <a:spcPts val="1400"/>
              </a:spcAft>
              <a:defRPr sz="1650">
                <a:solidFill>
                  <a:srgbClr val="22282E"/>
                </a:solidFill>
                <a:latin typeface="Aptos"/>
              </a:defRPr>
            </a:pPr>
            <a:r>
              <a:rPr dirty="0"/>
              <a:t>• Use procedure mix and booked-vs-actual time as supporting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B7743D"/>
                </a:solidFill>
                <a:latin typeface="Aptos"/>
              </a:rPr>
              <a:t>IMPORTANT LIMITATION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2148840"/>
            <a:ext cx="416052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2487168"/>
            <a:ext cx="3566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22282E"/>
                </a:solidFill>
                <a:latin typeface="Aptos Display"/>
              </a:rPr>
              <a:t>No OR capacity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154680"/>
            <a:ext cx="349300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22282E"/>
                </a:solidFill>
                <a:latin typeface="Aptos"/>
              </a:rPr>
              <a:t>The dataset tells us how much time was occupied, but not how many hours were available. Therefore, a true OR Utilization % cannot be calculated.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166360"/>
            <a:ext cx="10469880" cy="658368"/>
          </a:xfrm>
          <a:prstGeom prst="rect">
            <a:avLst/>
          </a:prstGeom>
          <a:solidFill>
            <a:srgbClr val="E8E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327" y="5321588"/>
            <a:ext cx="10058400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sz="1600" b="1" dirty="0">
                <a:solidFill>
                  <a:srgbClr val="25706F"/>
                </a:solidFill>
                <a:latin typeface="Aptos"/>
              </a:rPr>
              <a:t>The analysis identifies patterns for further review; it does not establish why those patterns occurred.</a:t>
            </a:r>
            <a:endParaRPr lang="en-US" sz="1600" b="1">
              <a:solidFill>
                <a:srgbClr val="25706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5706F"/>
                </a:solidFill>
                <a:latin typeface="Aptos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2926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656C72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19088"/>
            <a:ext cx="10881360" cy="10972"/>
          </a:xfrm>
          <a:prstGeom prst="rect">
            <a:avLst/>
          </a:prstGeom>
          <a:solidFill>
            <a:srgbClr val="D0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106984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22282E"/>
                </a:solidFill>
                <a:latin typeface="Aptos Display"/>
              </a:rPr>
              <a:t>From raw data to an operational 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61872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56C72"/>
                </a:solidFill>
                <a:latin typeface="Aptos"/>
              </a:rPr>
              <a:t>The project combines technical work with a clear business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19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 Display"/>
              </a:rPr>
              <a:t>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761488"/>
            <a:ext cx="1691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56C72"/>
                </a:solidFill>
                <a:latin typeface="Aptos"/>
              </a:rPr>
              <a:t>2,172 encounter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71216" y="1874519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331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 Display"/>
              </a:rPr>
              <a:t>POSTGRESQL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71216" y="2761488"/>
            <a:ext cx="1691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56C72"/>
                </a:solidFill>
                <a:latin typeface="Aptos"/>
              </a:rPr>
              <a:t>Preparation +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5504" y="1874519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75504" y="2331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 Display"/>
              </a:rP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2761488"/>
            <a:ext cx="1691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56C72"/>
                </a:solidFill>
                <a:latin typeface="Aptos"/>
              </a:rPr>
              <a:t>13 business analyses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1874519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331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 Display"/>
              </a:rPr>
              <a:t>POWER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2761488"/>
            <a:ext cx="1691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56C72"/>
                </a:solidFill>
                <a:latin typeface="Aptos"/>
              </a:rPr>
              <a:t>3-page interactive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1874519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5706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331720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2282E"/>
                </a:solidFill>
                <a:latin typeface="Aptos Display"/>
              </a:rPr>
              <a:t>INSIGHTS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2761488"/>
            <a:ext cx="16916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656C72"/>
                </a:solidFill>
                <a:latin typeface="Aptos"/>
              </a:rPr>
              <a:t>Workload + scheduling findings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4160520"/>
            <a:ext cx="105613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242" y="4232975"/>
            <a:ext cx="18288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sz="1400" b="1" u="sng" dirty="0">
                <a:solidFill>
                  <a:srgbClr val="25706F"/>
                </a:solidFill>
                <a:latin typeface="Aptos"/>
              </a:rPr>
              <a:t>Core conclusion</a:t>
            </a:r>
            <a:endParaRPr lang="en-US" sz="1400" b="1" u="sng">
              <a:solidFill>
                <a:srgbClr val="25706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32688" y="4543797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2282E"/>
                </a:solidFill>
                <a:latin typeface="Aptos Display"/>
              </a:rPr>
              <a:t>OR workload is better understood through volume, occupancy, scheduling delay and procedure mix together.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656C72"/>
                </a:solidFill>
                <a:latin typeface="Aptos"/>
              </a:rPr>
              <a:t>SQL • Data validation • EDA • KPI analysis • Power BI • Business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501384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56C72"/>
                </a:solidFill>
                <a:latin typeface="Aptos"/>
              </a:rPr>
              <a:t>Operating Room Efficiency Investigation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6501384"/>
            <a:ext cx="37033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656C72"/>
                </a:solidFill>
                <a:latin typeface="Aptos"/>
              </a:rPr>
              <a:t>PostgreSQL • SQL • Power BI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F4594BE-0132-82EB-3EC5-42B67FDDF28F}"/>
              </a:ext>
            </a:extLst>
          </p:cNvPr>
          <p:cNvSpPr/>
          <p:nvPr/>
        </p:nvSpPr>
        <p:spPr>
          <a:xfrm>
            <a:off x="4633639" y="2452225"/>
            <a:ext cx="207227" cy="126583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F71BB062-4497-5516-2454-EA1BC98B02A9}"/>
              </a:ext>
            </a:extLst>
          </p:cNvPr>
          <p:cNvSpPr/>
          <p:nvPr/>
        </p:nvSpPr>
        <p:spPr>
          <a:xfrm>
            <a:off x="2393542" y="2452225"/>
            <a:ext cx="207227" cy="126583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CA8B62F-4D68-F1DF-6566-92560D118B79}"/>
              </a:ext>
            </a:extLst>
          </p:cNvPr>
          <p:cNvSpPr/>
          <p:nvPr/>
        </p:nvSpPr>
        <p:spPr>
          <a:xfrm>
            <a:off x="6662579" y="2452225"/>
            <a:ext cx="207227" cy="126583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C7E9221B-6778-1BB6-96B6-EEA4571925BB}"/>
              </a:ext>
            </a:extLst>
          </p:cNvPr>
          <p:cNvSpPr/>
          <p:nvPr/>
        </p:nvSpPr>
        <p:spPr>
          <a:xfrm>
            <a:off x="9242361" y="2452224"/>
            <a:ext cx="207227" cy="126583"/>
          </a:xfrm>
          <a:prstGeom prst="rightArrow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77</cp:revision>
  <dcterms:created xsi:type="dcterms:W3CDTF">2013-01-27T09:14:16Z</dcterms:created>
  <dcterms:modified xsi:type="dcterms:W3CDTF">2026-09-13T19:58:32Z</dcterms:modified>
  <cp:category/>
</cp:coreProperties>
</file>